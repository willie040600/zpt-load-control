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9" r:id="rId11"/>
    <p:sldMasterId id="2147483660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 defTabSz="457200"/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B37DA7-EC36-4D90-9E66-6312A0E1BE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開場：今天不講業務結論，講這個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222.5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萬是怎麼算出來的。核心是每條路線的最小成本車輛組合，用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DP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精確解，再用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MILP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驗證。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14AE90-6AC9-4FF0-849D-A27466D4903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DP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的狀態是覆蓋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籠的最小成本；轉移時枚舉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35t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17t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。它不是啟發式，與暴力枚舉完全一致，複雜度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O(D×|T|)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117643-62A2-4CC5-9336-BAAC6FFF620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MILP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多了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35t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總量上限，處理跨群組資源。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DP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MILP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的總成本差距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元；費率回推誤差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1.7%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4E9231-ED1F-4662-AD98-DC7B2203FB7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結果：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47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 222.5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 257.8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 376.3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萬。邊界是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小時時窗、費率中位數、以及沒有座標所以不做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VRP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；下一步是空籠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OD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與跨日合併。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715864-CE8D-4ADE-9CE1-FAA82980D79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BE9CBE9-64D2-4C73-AB1B-333F51FBBA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 defTabSz="457200">
              <a:buNone/>
            </a:pP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2245096-3372-4D9A-8590-07C5BEF96E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DA3687-A6C2-4CE5-ABB7-C79BD020F7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4C5ED1-60AE-4590-B253-7A7DE73F4A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79EB73-9C29-46F0-910E-467FB705EA4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8D0BF0-91BF-4684-A719-A374FA3DFED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1" lang="en-US" sz="4000" strike="noStrike" u="non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18AE72-6801-4A26-8E47-E0ACD41054A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7D4F57-301E-47ED-87DB-68C30A50D0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8AD14F-9796-41B2-A5F2-46999303A8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419071-E028-4222-A353-B8D9C65A1DC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892ED1-9F8F-400A-80DA-12E13AFEF3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45720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58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1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04ADA4-05D8-497A-8212-F9A9B46590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1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spcBef>
                <a:spcPts val="281"/>
              </a:spcBef>
              <a:tabLst>
                <a:tab algn="l" pos="0"/>
              </a:tabLst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請按這裡編輯大綱文字格式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第二個大綱層次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第三個大綱層次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第四個大綱層次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第五個大綱層次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第六個大綱層次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第七個大綱層次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C32AD0-16C2-4C9B-BC99-052F2AA717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77240" y="1024200"/>
            <a:ext cx="6400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演算法說明｜</a:t>
            </a:r>
            <a:r>
              <a:rPr b="1" lang="en-US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115 </a:t>
            </a:r>
            <a:r>
              <a:rPr b="1" lang="zh-TW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年 </a:t>
            </a:r>
            <a:r>
              <a:rPr b="1" lang="en-US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6–7 </a:t>
            </a:r>
            <a:r>
              <a:rPr b="1" lang="zh-TW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月｜</a:t>
            </a:r>
            <a:r>
              <a:rPr b="1" lang="en-US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9,748 </a:t>
            </a:r>
            <a:r>
              <a:rPr b="1" lang="zh-TW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趟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77240" y="1536120"/>
            <a:ext cx="658332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45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車趟成本最佳化</a:t>
            </a:r>
            <a:endParaRPr b="0" lang="en-US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77240" y="2267640"/>
            <a:ext cx="658332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45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演算法與驗證</a:t>
            </a:r>
            <a:endParaRPr b="0" lang="en-US" sz="4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77240" y="3310200"/>
            <a:ext cx="676620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zh-TW" sz="170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多容量選擇的整數覆蓋問題：</a:t>
            </a:r>
            <a:r>
              <a:rPr b="0" lang="en-US" sz="170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DP </a:t>
            </a:r>
            <a:r>
              <a:rPr b="0" lang="zh-TW" sz="170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精確解 </a:t>
            </a:r>
            <a:r>
              <a:rPr b="0" lang="en-US" sz="170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× MILP </a:t>
            </a:r>
            <a:r>
              <a:rPr b="0" lang="zh-TW" sz="170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驗證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77240" y="3950280"/>
            <a:ext cx="6400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zh-TW" sz="1400" strike="noStrike" u="none">
                <a:solidFill>
                  <a:srgbClr val="90989f"/>
                </a:solidFill>
                <a:effectLst/>
                <a:uFillTx/>
                <a:latin typeface="Microsoft JhengHei"/>
                <a:ea typeface="Microsoft JhengHei"/>
              </a:rPr>
              <a:t>不是啟發式，是可重現的精確解。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548640" y="438840"/>
            <a:ext cx="1106388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200" strike="noStrike" u="none">
                <a:solidFill>
                  <a:srgbClr val="0b1c2c"/>
                </a:solidFill>
                <a:effectLst/>
                <a:uFillTx/>
                <a:latin typeface="Microsoft JhengHei"/>
                <a:ea typeface="Microsoft JhengHei"/>
              </a:rPr>
              <a:t>Dynamic Programming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548640" y="1600200"/>
            <a:ext cx="5531760" cy="2331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360">
            <a:solidFill>
              <a:srgbClr val="d9e2e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1783080"/>
            <a:ext cx="49374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1300" strike="noStrike" u="none">
                <a:solidFill>
                  <a:srgbClr val="529286"/>
                </a:solidFill>
                <a:effectLst/>
                <a:uFillTx/>
                <a:latin typeface="Microsoft JhengHei"/>
                <a:ea typeface="Microsoft JhengHei"/>
              </a:rPr>
              <a:t>演算法算式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822960" y="2194560"/>
            <a:ext cx="502884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65000"/>
              </a:lnSpc>
            </a:pPr>
            <a:r>
              <a:rPr b="0" lang="en-US" sz="1700" strike="noStrike" u="none">
                <a:solidFill>
                  <a:srgbClr val="1a1a1a"/>
                </a:solidFill>
                <a:effectLst/>
                <a:uFillTx/>
                <a:latin typeface="Cambria Math"/>
                <a:ea typeface="Cambria Math"/>
              </a:rPr>
              <a:t>dp[0] = 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700" strike="noStrike" u="none">
                <a:solidFill>
                  <a:srgbClr val="1a1a1a"/>
                </a:solidFill>
                <a:effectLst/>
                <a:uFillTx/>
                <a:latin typeface="Cambria Math"/>
                <a:ea typeface="Cambria Math"/>
              </a:rPr>
              <a:t>dp[d] = min_t { dp[max(0, d−cap_t)] + c_t }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7"/>
          <p:cNvSpPr/>
          <p:nvPr/>
        </p:nvSpPr>
        <p:spPr>
          <a:xfrm>
            <a:off x="6355080" y="1600200"/>
            <a:ext cx="5257440" cy="2331360"/>
          </a:xfrm>
          <a:prstGeom prst="roundRect">
            <a:avLst>
              <a:gd name="adj" fmla="val 4000"/>
            </a:avLst>
          </a:prstGeom>
          <a:solidFill>
            <a:srgbClr val="f1f5f4"/>
          </a:solidFill>
          <a:ln w="9360">
            <a:solidFill>
              <a:srgbClr val="d9e2e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6583680" y="1755720"/>
            <a:ext cx="47545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1200" strike="noStrike" u="none">
                <a:solidFill>
                  <a:srgbClr val="5f6f6c"/>
                </a:solidFill>
                <a:effectLst/>
                <a:uFillTx/>
                <a:latin typeface="Microsoft JhengHei"/>
                <a:ea typeface="Microsoft JhengHei"/>
              </a:rPr>
              <a:t>核心迴圈（</a:t>
            </a:r>
            <a:r>
              <a:rPr b="1" lang="en-US" sz="1200" strike="noStrike" u="none">
                <a:solidFill>
                  <a:srgbClr val="5f6f6c"/>
                </a:solidFill>
                <a:effectLst/>
                <a:uFillTx/>
                <a:latin typeface="Microsoft JhengHei"/>
                <a:ea typeface="Microsoft JhengHei"/>
              </a:rPr>
              <a:t>Python</a:t>
            </a:r>
            <a:r>
              <a:rPr b="1" lang="zh-TW" sz="1200" strike="noStrike" u="none">
                <a:solidFill>
                  <a:srgbClr val="5f6f6c"/>
                </a:solidFill>
                <a:effectLst/>
                <a:uFillTx/>
                <a:latin typeface="Microsoft JhengHei"/>
                <a:ea typeface="Microsoft JhengHei"/>
              </a:rPr>
              <a:t>）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6583680" y="2103120"/>
            <a:ext cx="3028680" cy="14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99"/>
              </a:spcAf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for d in range(1, D+1):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99"/>
              </a:spcAf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for t, r in rates.items():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99"/>
              </a:spcAf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prev = max(0, d - CAP[t])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99"/>
              </a:spcAf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if dp[prev] + r &lt; dp[d]: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99"/>
              </a:spcAf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dp[d] = dp[prev] + 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99"/>
              </a:spcAft>
            </a:pPr>
            <a:r>
              <a:rPr b="0" lang="en-US" sz="1200" strike="noStrike" u="non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            choice[d] = 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67000" y="4160520"/>
            <a:ext cx="109724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EX : D = 12 </a:t>
            </a:r>
            <a:r>
              <a:rPr b="0" lang="zh-TW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籠、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35t = 1,100</a:t>
            </a:r>
            <a:r>
              <a:rPr b="0" lang="zh-TW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、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17t = 2,200 → 1×35t = 1,100</a:t>
            </a:r>
            <a:r>
              <a:rPr b="0" lang="zh-TW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（比 </a:t>
            </a:r>
            <a:r>
              <a:rPr b="0" lang="en-US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1×17t = 2,200 </a:t>
            </a:r>
            <a:r>
              <a:rPr b="0" lang="zh-TW" sz="1400" strike="noStrike" u="none">
                <a:solidFill>
                  <a:srgbClr val="1a1a1a"/>
                </a:solidFill>
                <a:effectLst/>
                <a:uFillTx/>
                <a:latin typeface="Microsoft JhengHei"/>
                <a:ea typeface="Microsoft JhengHei"/>
              </a:rPr>
              <a:t>便宜）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rcRect l="-1239" t="12781" r="-2591" b="5730"/>
          <a:stretch/>
        </p:blipFill>
        <p:spPr>
          <a:xfrm rot="21597600">
            <a:off x="20520" y="904320"/>
            <a:ext cx="12037320" cy="575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1"/>
          <p:cNvSpPr/>
          <p:nvPr/>
        </p:nvSpPr>
        <p:spPr>
          <a:xfrm>
            <a:off x="548640" y="438840"/>
            <a:ext cx="1106388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3200" strike="noStrike" u="none">
                <a:solidFill>
                  <a:srgbClr val="0b1c2c"/>
                </a:solidFill>
                <a:effectLst/>
                <a:uFillTx/>
                <a:latin typeface="Microsoft JhengHei"/>
                <a:ea typeface="Microsoft JhengHei"/>
              </a:rPr>
              <a:t>MILP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180000" y="1254240"/>
            <a:ext cx="2861280" cy="234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360">
            <a:solidFill>
              <a:srgbClr val="d9e2e0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374040" y="1432080"/>
            <a:ext cx="48459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1400" strike="noStrike" u="none">
                <a:solidFill>
                  <a:srgbClr val="0b1c2c"/>
                </a:solidFill>
                <a:effectLst/>
                <a:uFillTx/>
                <a:latin typeface="Microsoft JhengHei"/>
                <a:ea typeface="Microsoft JhengHei"/>
              </a:rPr>
              <a:t>全域 </a:t>
            </a:r>
            <a:r>
              <a:rPr b="1" lang="en-US" sz="1400" strike="noStrike" u="none">
                <a:solidFill>
                  <a:srgbClr val="0b1c2c"/>
                </a:solidFill>
                <a:effectLst/>
                <a:uFillTx/>
                <a:latin typeface="Microsoft JhengHei"/>
                <a:ea typeface="Microsoft JhengHei"/>
              </a:rPr>
              <a:t>MILP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282600" y="1620000"/>
            <a:ext cx="4937400" cy="15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65000"/>
              </a:lnSpc>
            </a:pPr>
            <a:r>
              <a:rPr b="0" lang="en-US" sz="1550" strike="noStrike" u="none">
                <a:solidFill>
                  <a:srgbClr val="1a1a1a"/>
                </a:solidFill>
                <a:effectLst/>
                <a:uFillTx/>
                <a:latin typeface="Cambria Math"/>
                <a:ea typeface="Cambria Math"/>
              </a:rPr>
              <a:t>min   Σg Σt  c(g,t) · x(g,t)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550" strike="noStrike" u="none">
                <a:solidFill>
                  <a:srgbClr val="1a1a1a"/>
                </a:solidFill>
                <a:effectLst/>
                <a:uFillTx/>
                <a:latin typeface="Cambria Math"/>
                <a:ea typeface="Cambria Math"/>
              </a:rPr>
              <a:t>s.t.  Σt  cap(t) · x(g,t) ≥ D(g)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550" strike="noStrike" u="none">
                <a:solidFill>
                  <a:srgbClr val="1a1a1a"/>
                </a:solidFill>
                <a:effectLst/>
                <a:uFillTx/>
                <a:latin typeface="Cambria Math"/>
                <a:ea typeface="Cambria Math"/>
              </a:rPr>
              <a:t>      Σg  x(g,35t) ≤ N35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65000"/>
              </a:lnSpc>
            </a:pPr>
            <a:r>
              <a:rPr b="0" lang="en-US" sz="1550" strike="noStrike" u="none">
                <a:solidFill>
                  <a:srgbClr val="1a1a1a"/>
                </a:solidFill>
                <a:effectLst/>
                <a:uFillTx/>
                <a:latin typeface="Cambria Math"/>
                <a:ea typeface="Cambria Math"/>
              </a:rPr>
              <a:t>      x(g,t) ∈ Z+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640080" y="457200"/>
            <a:ext cx="1097244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31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驗證結果</a:t>
            </a:r>
            <a:endParaRPr b="0" lang="en-US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731520" y="1965960"/>
            <a:ext cx="2468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A </a:t>
            </a:r>
            <a:r>
              <a:rPr b="1" lang="zh-TW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保守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731520" y="2286000"/>
            <a:ext cx="246852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47.0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731520" y="2971800"/>
            <a:ext cx="2559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zh-TW" sz="1200" strike="noStrike" u="none">
                <a:solidFill>
                  <a:srgbClr val="90989f"/>
                </a:solidFill>
                <a:effectLst/>
                <a:uFillTx/>
                <a:latin typeface="Microsoft JhengHei"/>
                <a:ea typeface="Microsoft JhengHei"/>
              </a:rPr>
              <a:t>萬元｜同型合併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3566160" y="1965960"/>
            <a:ext cx="2468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B </a:t>
            </a:r>
            <a:r>
              <a:rPr b="1" lang="zh-TW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推薦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3566160" y="2286000"/>
            <a:ext cx="246852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222.5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3566160" y="2971800"/>
            <a:ext cx="2559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zh-TW" sz="1200" strike="noStrike" u="none">
                <a:solidFill>
                  <a:srgbClr val="90989f"/>
                </a:solidFill>
                <a:effectLst/>
                <a:uFillTx/>
                <a:latin typeface="Microsoft JhengHei"/>
                <a:ea typeface="Microsoft JhengHei"/>
              </a:rPr>
              <a:t>萬元｜＋車型最佳化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6400800" y="1965960"/>
            <a:ext cx="2468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C </a:t>
            </a:r>
            <a:r>
              <a:rPr b="1" lang="zh-TW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積極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400800" y="2286000"/>
            <a:ext cx="246852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257.8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6400800" y="2971800"/>
            <a:ext cx="2559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zh-TW" sz="1200" strike="noStrike" u="none">
                <a:solidFill>
                  <a:srgbClr val="90989f"/>
                </a:solidFill>
                <a:effectLst/>
                <a:uFillTx/>
                <a:latin typeface="Microsoft JhengHei"/>
                <a:ea typeface="Microsoft JhengHei"/>
              </a:rPr>
              <a:t>萬元｜＋承運商 </a:t>
            </a:r>
            <a:r>
              <a:rPr b="0" lang="en-US" sz="1200" strike="noStrike" u="none">
                <a:solidFill>
                  <a:srgbClr val="90989f"/>
                </a:solidFill>
                <a:effectLst/>
                <a:uFillTx/>
                <a:latin typeface="Microsoft JhengHei"/>
                <a:ea typeface="Microsoft JhengHei"/>
              </a:rPr>
              <a:t>50%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9235440" y="1965960"/>
            <a:ext cx="24685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D </a:t>
            </a:r>
            <a:r>
              <a:rPr b="1" lang="zh-TW" sz="13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上限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3"/>
          <p:cNvSpPr/>
          <p:nvPr/>
        </p:nvSpPr>
        <p:spPr>
          <a:xfrm>
            <a:off x="9235440" y="2286000"/>
            <a:ext cx="2468520" cy="69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Microsoft JhengHei"/>
                <a:ea typeface="Microsoft JhengHei"/>
              </a:rPr>
              <a:t>376.3</a:t>
            </a:r>
            <a:endParaRPr b="0" lang="en-US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9235440" y="2971800"/>
            <a:ext cx="255996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zh-TW" sz="1200" strike="noStrike" u="none">
                <a:solidFill>
                  <a:srgbClr val="90989f"/>
                </a:solidFill>
                <a:effectLst/>
                <a:uFillTx/>
                <a:latin typeface="Microsoft JhengHei"/>
                <a:ea typeface="Microsoft JhengHei"/>
              </a:rPr>
              <a:t>萬元｜無時窗＋最低價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Connector 15"/>
          <p:cNvCxnSpPr/>
          <p:nvPr/>
        </p:nvCxnSpPr>
        <p:spPr>
          <a:xfrm>
            <a:off x="640080" y="3703320"/>
            <a:ext cx="10881720" cy="360"/>
          </a:xfrm>
          <a:prstGeom prst="straightConnector1">
            <a:avLst/>
          </a:prstGeom>
          <a:ln w="9360">
            <a:solidFill>
              <a:srgbClr val="3f5f56"/>
            </a:solidFill>
            <a:round/>
          </a:ln>
        </p:spPr>
      </p:cxnSp>
      <p:sp>
        <p:nvSpPr>
          <p:cNvPr id="99" name="TextBox 16"/>
          <p:cNvSpPr/>
          <p:nvPr/>
        </p:nvSpPr>
        <p:spPr>
          <a:xfrm>
            <a:off x="658440" y="3977640"/>
            <a:ext cx="32000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1" lang="zh-TW" sz="1400" strike="noStrike" u="none">
                <a:solidFill>
                  <a:srgbClr val="e8a33d"/>
                </a:solidFill>
                <a:effectLst/>
                <a:uFillTx/>
                <a:latin typeface="Microsoft JhengHei"/>
                <a:ea typeface="Microsoft JhengHei"/>
              </a:rPr>
              <a:t>發車時間限制範圍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7"/>
          <p:cNvSpPr/>
          <p:nvPr/>
        </p:nvSpPr>
        <p:spPr>
          <a:xfrm>
            <a:off x="658440" y="4343400"/>
            <a:ext cx="3245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25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2 </a:t>
            </a:r>
            <a:r>
              <a:rPr b="0" lang="zh-TW" sz="1250" strike="noStrike" u="none">
                <a:solidFill>
                  <a:srgbClr val="b0b8c0"/>
                </a:solidFill>
                <a:effectLst/>
                <a:uFillTx/>
                <a:latin typeface="Microsoft JhengHei"/>
                <a:ea typeface="Microsoft JhengHei"/>
              </a:rPr>
              <a:t>小時；合併前仍需調度確認各站截單時間。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2026-10-24T13:38:28Z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